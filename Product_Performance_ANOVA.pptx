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productivity</c:v>
                </c:pt>
              </c:strCache>
            </c:strRef>
          </c:tx>
          <c:spPr>
            <a:solidFill>
              <a:srgbClr val="366E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0.717</c:v>
                </c:pt>
                <c:pt idx="1">
                  <c:v>0.748</c:v>
                </c:pt>
                <c:pt idx="2">
                  <c:v>0.726</c:v>
                </c:pt>
                <c:pt idx="3">
                  <c:v>0.759</c:v>
                </c:pt>
                <c:pt idx="4">
                  <c:v>0.756</c:v>
                </c:pt>
                <c:pt idx="5">
                  <c:v>0.74</c:v>
                </c:pt>
                <c:pt idx="6">
                  <c:v>0.718</c:v>
                </c:pt>
                <c:pt idx="7">
                  <c:v>0.731</c:v>
                </c:pt>
                <c:pt idx="8">
                  <c:v>0.756</c:v>
                </c:pt>
                <c:pt idx="9">
                  <c:v>0.725</c:v>
                </c:pt>
                <c:pt idx="10">
                  <c:v>0.731</c:v>
                </c:pt>
                <c:pt idx="11">
                  <c:v>0.713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Targeted productivity</c:v>
                </c:pt>
              </c:strCache>
            </c:strRef>
          </c:tx>
          <c:spPr>
            <a:solidFill>
              <a:srgbClr val="B8C7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0.747</c:v>
                </c:pt>
                <c:pt idx="1">
                  <c:v>0.74</c:v>
                </c:pt>
                <c:pt idx="2">
                  <c:v>0.742</c:v>
                </c:pt>
                <c:pt idx="3">
                  <c:v>0.718</c:v>
                </c:pt>
                <c:pt idx="4">
                  <c:v>0.674</c:v>
                </c:pt>
                <c:pt idx="5">
                  <c:v>0.731</c:v>
                </c:pt>
                <c:pt idx="6">
                  <c:v>0.714</c:v>
                </c:pt>
                <c:pt idx="7">
                  <c:v>0.708</c:v>
                </c:pt>
                <c:pt idx="8">
                  <c:v>0.758</c:v>
                </c:pt>
                <c:pt idx="9">
                  <c:v>0.738</c:v>
                </c:pt>
                <c:pt idx="10">
                  <c:v>0.704</c:v>
                </c:pt>
                <c:pt idx="11">
                  <c:v>0.774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6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Arial"/>
              </a:rPr>
              <a:t>Mean actual productivity by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productivity</c:v>
                </c:pt>
              </c:strCache>
            </c:strRef>
          </c:tx>
          <c:spPr>
            <a:solidFill>
              <a:srgbClr val="366EB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Sat</c:v>
                  </c:pt>
                  <c:pt idx="5">
                    <c:v>Sun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0.721</c:v>
                </c:pt>
                <c:pt idx="1">
                  <c:v>0.74</c:v>
                </c:pt>
                <c:pt idx="2">
                  <c:v>0.74</c:v>
                </c:pt>
                <c:pt idx="3">
                  <c:v>0.761</c:v>
                </c:pt>
                <c:pt idx="4">
                  <c:v>0.762</c:v>
                </c:pt>
                <c:pt idx="5">
                  <c:v>0.689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6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days target met</c:v>
                </c:pt>
              </c:strCache>
            </c:strRef>
          </c:tx>
          <c:spPr>
            <a:solidFill>
              <a:srgbClr val="366EB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53.3</c:v>
                </c:pt>
                <c:pt idx="1">
                  <c:v>60.6</c:v>
                </c:pt>
                <c:pt idx="2">
                  <c:v>57.9</c:v>
                </c:pt>
                <c:pt idx="3">
                  <c:v>69.5</c:v>
                </c:pt>
                <c:pt idx="4">
                  <c:v>72</c:v>
                </c:pt>
                <c:pt idx="5">
                  <c:v>55.3</c:v>
                </c:pt>
                <c:pt idx="6">
                  <c:v>60.4</c:v>
                </c:pt>
                <c:pt idx="7">
                  <c:v>65.1</c:v>
                </c:pt>
                <c:pt idx="8">
                  <c:v>68.3</c:v>
                </c:pt>
                <c:pt idx="9">
                  <c:v>58</c:v>
                </c:pt>
                <c:pt idx="10">
                  <c:v>64.8</c:v>
                </c:pt>
                <c:pt idx="11">
                  <c:v>48.5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COMPARISON USING ANOVA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garment-factory teams differ in actual productivity? A one-way ANOVA study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243B5E"/>
          </a:solidFill>
          <a:ln w="12700">
            <a:solidFill>
              <a:srgbClr val="243B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1,197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615538"/>
            <a:ext cx="21031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29260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243B5E"/>
          </a:solidFill>
          <a:ln w="12700">
            <a:solidFill>
              <a:srgbClr val="243B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615538"/>
            <a:ext cx="21031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compared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9260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243B5E"/>
          </a:solidFill>
          <a:ln w="12700">
            <a:solidFill>
              <a:srgbClr val="243B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0.89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615538"/>
            <a:ext cx="21031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ANOVA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0" y="29260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243B5E"/>
          </a:solidFill>
          <a:ln w="12700">
            <a:solidFill>
              <a:srgbClr val="243B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3063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0.547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3615538"/>
            <a:ext cx="21031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retain H₀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 Worker Productivity dataset  •  Jan–Mar 2015  •  α = 0.05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Statistics  |  1/11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Business Problem &amp; Research Objective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Statistics  •  Product Performance Comparison Using ANOVA  |  2/11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wants to know whether some production teams consistently perform better than others, so that training, incentives and staffing can be targeted.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mean actual productivity of the 12 teams using a one-way (single-factor) ANOVA.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measure: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actual_productivity — share of targeted output delivered each day (0 to ~1.1).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department, day of week or quarter explain differences better than team does.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question: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team identity a meaningful driver of performance, or should management look elsewhere?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Dataset &amp; Variables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 manufacturing productivity data — one row per team per working day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Statistics  •  Product Performance Comparison Using ANOVA  |  3/11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45920"/>
            <a:ext cx="21031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1,197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71700"/>
            <a:ext cx="21031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15087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57600" y="1645920"/>
            <a:ext cx="21031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171700"/>
            <a:ext cx="21031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1645920"/>
            <a:ext cx="21031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171700"/>
            <a:ext cx="21031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0" y="15087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0" y="1645920"/>
            <a:ext cx="21031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2171700"/>
            <a:ext cx="21031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 / week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971800"/>
            <a:ext cx="10698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(Y):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actual_productivity — mean 0.735, SD 0.174, range 0.23 – 1.12.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(X):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(1–12); each team has 88 – 109 daily records, a reasonably balanced design.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factors: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(sewing 691, finishing 506), day (Mon–Thu, Sat, Sun), quarter (Q1–Q5).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observed: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productivity, SMV, overtime, incentive, idle time, style changes, workers.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values; "sweing" spelling standardised to "sewing".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Hypotheses &amp; Method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Statistics  •  Product Performance Comparison Using ANOVA  |  4/11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5544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(null)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μ₁ = μ₂ = … = μ₁₂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actual productivity is the same for all 12 teams.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0" y="15544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(alternative)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team mean differs from the others.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640080" cy="640080"/>
          </a:xfrm>
          <a:prstGeom prst="ellipse">
            <a:avLst/>
          </a:prstGeom>
          <a:solidFill>
            <a:srgbClr val="192D4B"/>
          </a:solidFill>
          <a:ln w="12700">
            <a:solidFill>
              <a:srgbClr val="192D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754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daily productivity by team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0" y="3931920"/>
            <a:ext cx="640080" cy="640080"/>
          </a:xfrm>
          <a:prstGeom prst="ellipse">
            <a:avLst/>
          </a:prstGeom>
          <a:solidFill>
            <a:srgbClr val="192D4B"/>
          </a:solidFill>
          <a:ln w="12700">
            <a:solidFill>
              <a:srgbClr val="192D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4754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total = SS between + SS within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640080" cy="640080"/>
          </a:xfrm>
          <a:prstGeom prst="ellipse">
            <a:avLst/>
          </a:prstGeom>
          <a:solidFill>
            <a:srgbClr val="192D4B"/>
          </a:solidFill>
          <a:ln w="12700">
            <a:solidFill>
              <a:srgbClr val="192D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754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MS between / MS within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61120" y="3931920"/>
            <a:ext cx="640080" cy="640080"/>
          </a:xfrm>
          <a:prstGeom prst="ellipse">
            <a:avLst/>
          </a:prstGeom>
          <a:solidFill>
            <a:srgbClr val="192D4B"/>
          </a:solidFill>
          <a:ln w="12700">
            <a:solidFill>
              <a:srgbClr val="192D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738360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4754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if p &lt; 0.05 (F &gt; F crit)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independent observations, roughly normal residuals, equal variances across groups (checked with Levene’s test).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Team Performance: Actual vs Target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daily productivity by team — the bars are strikingly similar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Statistics  •  Product Performance Comparison Using ANOVA  |  5/11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46304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778240" y="1600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0.713 – 0.759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152498"/>
            <a:ext cx="26517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team means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595360" y="283464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778240" y="2971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0.046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3524098"/>
            <a:ext cx="26517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best vs worst team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42976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(0.759), Team 5, Team 9.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12 (0.713), Team 1, Team 7.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5897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axis starts at 0.60 to make small gaps visible.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One-Way ANOVA Result: Team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Single-factor ANOVA on actual_productivity, grouped by the team column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Statistics  •  Product Performance Comparison Using ANOVA  |  6/11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1097280"/>
                <a:gridCol w="1371600"/>
                <a:gridCol w="1188720"/>
                <a:gridCol w="137160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variation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crit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D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groups (teams)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0.2992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groups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36.1142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36.4134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6576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3794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0.893 &lt; 1.797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453128"/>
            <a:ext cx="2926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is below F critical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34840" y="36576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617720" y="3794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0.547 &gt; 0.05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4453128"/>
            <a:ext cx="2926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above α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38160" y="36576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321040" y="3794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 = 0.8%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4453128"/>
            <a:ext cx="2926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by team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H₀. There is no statistically significant difference in mean productivity across the 12 teams at the 5% level.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Assumption Checks &amp; Robustness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“no difference” result reliable?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Statistics  •  Product Performance Comparison Using ANOVA  |  7/11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Levene’s test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645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0.759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3317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Variances are equal across teams, so the ANOVA equal-variance assumption holds.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Kruskal–Wallis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1645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0.203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3317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non-parametric alternative (no normality needed) reaches the same conclusion.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0584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 HSD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66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6177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pair of teams differs significantly after controlling the family-wise error rate.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374904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9224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design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– 109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6177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sizes are similar, which makes one-way ANOVA robust to mild non-normality.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Data Check: Worksheet F = 10.06 vs 0.89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Excel ANOVA grouped rows by position, not by team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Statistics  •  Product Performance Comparison Using ANOVA  |  8/11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164592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“Team 1–12” columns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consecutive blocks of rows (e.g. “Team 1” = rows 1–105, 1–7 Jan).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mixes all 12 real teams, so it measures time period, not team.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 = 10.06, p ≈ 1×10⁻¹⁷ → H₀ rejected.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164592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the actual team column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holds only that team’s daily records.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pivot table team averages (e.g. Team 1 = 0.7168).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 = 0.89, p = 0.547 → H₀ retained.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significant differences in the worksheet come from when work was done (early January vs later weeks), not which team did it. The next slide tests timing directly.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Beyond Teams: What Drives Productivity?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repeated for other factors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Statistics  •  Product Performance Comparison Using ANOVA  |  9/11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56692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54480"/>
          <a:ext cx="5212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40080"/>
                <a:gridCol w="1005840"/>
                <a:gridCol w="16459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D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(12)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(2)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 (5)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of week (6)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0" y="434340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dip: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0.689 vs 0.76 on Thu/Sat — the lowest day.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are small (η² ≈ 2% for day), so timing matters but explains little on its own.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9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Target Achievement by Team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working days on which actual productivity ≥ target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Statistics  •  Product Performance Comparison Using ANOVA  |  10/11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7680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46304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778240" y="1600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152498"/>
            <a:ext cx="26517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Factory-wide days on target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292608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 (72%)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target most often, partly because its target is the lowest (0.674).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12 (48.5%)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most often, yet has the highest target (0.774).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36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reflect target setting more than team capability.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Key Findings &amp; Business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243B5E"/>
          </a:solidFill>
          <a:ln w="12700">
            <a:solidFill>
              <a:srgbClr val="243B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0.547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97380"/>
            <a:ext cx="21945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ANOVA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2344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243B5E"/>
          </a:solidFill>
          <a:ln w="12700">
            <a:solidFill>
              <a:srgbClr val="243B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37160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897380"/>
            <a:ext cx="21945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due to team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243B5E"/>
          </a:solidFill>
          <a:ln w="12700">
            <a:solidFill>
              <a:srgbClr val="243B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37160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66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97380"/>
            <a:ext cx="21945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team pairs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52560" y="12344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243B5E"/>
          </a:solidFill>
          <a:ln w="12700">
            <a:solidFill>
              <a:srgbClr val="243B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37160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1897380"/>
            <a:ext cx="21945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ANOVA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97480"/>
            <a:ext cx="11064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perform alike — mean productivity ranges only 0.713 to 0.759, and H₀ of equal means is retained.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robust: equal variances (Levene), Kruskal–Wallis and Tukey HSD all agree.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matters more than team: day of week and quarter are significant, with a clear Sunday dip.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attainment differs mainly because targets differ, not because teams differ.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ranking teams on raw productivity; review target setting and Sunday scheduling, then model several drivers together (two-way ANOVA or regression).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Statistics  |  11/11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2026-09-30T17:27:13Z</dcterms:created>
  <dcterms:modified xsi:type="dcterms:W3CDTF">2026-09-30T17:27:13Z</dcterms:modified>
</cp:coreProperties>
</file>